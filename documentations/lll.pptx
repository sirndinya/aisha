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Today we're diving into the essential, and often dangerous, world of Software Contracts and Liability. How many of you have ever agreed to terms and conditions without actually reading them? We all do it! But when you're building systems for millions of dollars, or when lives are on the line, the fine print is everything. Let's get into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when does a basic conversation become a strict contract? It all comes down to these core pillars. If I offer to build you an app, and you accept... do we have a contract yet? Not until there's consideration—which means money or value changing hands. And both of us have to legally intend to be bound by it. What happens if the terms are vague? The contract can collapse. Has anyone here ever dealt with a project requirement that was too vague? [Pause for audience]. Exactly! That's where contracts fail.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talk about the Fixed Price contract. Imagine you’re buying a custom house. You want to know exactly how much it will cost before they start laying bricks. That’s what this is. But who bears the risk if the price of bricks suddenly skyrockets? The builder! Or in our case, the software supplier. This is why you must have highly detailed upfront blueprints. If the client suddenly wants a new feature, you must have strict change-control procedures ready. Otherwise, say hello to scope creep!</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who actually owns the code once it’s done? Does the client own the source code, or just the right to use the object code? Think about that... If you don't clarify ownership and IP rights, you might accidentally hand over your proprietary algorithms to a competitor! We also have client obligations—if they delay giving you the data you need, your timeline breaks. So, how do we fix that? We add liquidated damages to financially penalize whoever slows the project down.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Writing the code is only half the battle. How do we prove it actually works? We rely on User Acceptance Testing, or UAT. The client officially signs off that the software meets the specs. But what about a month later when they suddenly find a bug? That's where warranty periods come in. Also, imagine an inflation spike hits during a 3-year project—your profit margin could be completely wiped out unless you proactively include inflation-indexed clauses.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shift gears. What if you're not building a whole system, but just hiring a consultant for three months? You aren't buying a product; you’re buying their skills and time. But here's the trap: Who owns the IP of a freelancer? If your contract doesn't explicitly state that their work belongs to your company, they might walk away legally owning the very code they just wrote for you! Always be clear on employment status and IP retention.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imagine a client comes to you with a massive idea, but absolutely no clear specs. A fixed price is way too risky. Instead, you use a Time and Materials contract. They pay you for every hour you work. Who takes the massive financial risk here? The client does! If the project takes twice as long, they pay twice as much. This requires tremendous trust. How many of you would hand a developer an open checkbook? You’d demand constant, transparent reporting, right?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happens when you outsource your entire IT department? You lose direct, everyday control. So, what replaces that control? Service Level Agreements, or SLAs. They are your new rulebook. And speaking of rules, let's talk about licenses. When you download Open Source code with a GPL license, do you know what you're actually agreeing to? Sometimes, if you modify open-source code, you are legally forced to share your own proprietary code with the world! Always read the EULA!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scary part. What if your software breaks? If an e-commerce site crashes, the client loses money—that's pure economic loss. But what if your software controls a factory machine, and a bug causes it to injure a worker? The legal game changes drastically! Is your software considered a 'Good' or a 'Service'? Contracts will desperately try to limit your liability, but if a court finds you acted with negligence, those protective clauses get thrown out the window.</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wrap up with the ultimate stakes. Under the Health and Safety at Work Act, if your software causes physical harm, you can be held strictly liable. And it's not just explosions or plane crashes. Think about daily ergonomics. If your poorly designed interface forces a worker to click a thousand extra times a day and they develop disabling wrist injuries, you can absolutely be sued. As software engineers, you hold immense professional duty. Gross negligence in safety-critical systems doesn't just mean a civil lawsuit; it can mean criminal charges. Keep your code safe, and your contracts tighter.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SOFTWARE CONTRACTS AND LIABILITY</a:t>
            </a:r>
          </a:p>
        </p:txBody>
      </p:sp>
      <p:sp>
        <p:nvSpPr>
          <p:cNvPr id="3" name="Subtitle 2"/>
          <p:cNvSpPr>
            <a:spLocks noGrp="1"/>
          </p:cNvSpPr>
          <p:nvPr>
            <p:ph type="subTitle" idx="1"/>
          </p:nvPr>
        </p:nvSpPr>
        <p:spPr/>
        <p:txBody>
          <a:bodyPr/>
          <a:lstStyle/>
          <a:p>
            <a:r>
              <a:t>Direct &amp; Precise Overview</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Essentials of a Contract</a:t>
            </a:r>
          </a:p>
        </p:txBody>
      </p:sp>
      <p:sp>
        <p:nvSpPr>
          <p:cNvPr id="3" name="Content Placeholder 2"/>
          <p:cNvSpPr>
            <a:spLocks noGrp="1"/>
          </p:cNvSpPr>
          <p:nvPr>
            <p:ph idx="1"/>
          </p:nvPr>
        </p:nvSpPr>
        <p:spPr/>
        <p:txBody>
          <a:bodyPr/>
          <a:lstStyle/>
          <a:p>
            <a:r>
              <a:t>Offer &amp; Acceptance: Clear proposal and agreement.</a:t>
            </a:r>
          </a:p>
          <a:p>
            <a:r>
              <a:t>Consideration: Exchange of value.</a:t>
            </a:r>
          </a:p>
          <a:p>
            <a:r>
              <a:t>Intention: Mutual intent to create legal relations.</a:t>
            </a:r>
          </a:p>
          <a:p>
            <a:r>
              <a:t>Capacity: Both parties must have the legal ability to contract.</a:t>
            </a:r>
          </a:p>
          <a:p>
            <a:r>
              <a:t>Certainty of terms: Clear, unambiguous conditions.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Fixed Price Contracts (Bespoke Systems)</a:t>
            </a:r>
          </a:p>
        </p:txBody>
      </p:sp>
      <p:sp>
        <p:nvSpPr>
          <p:cNvPr id="3" name="Content Placeholder 2"/>
          <p:cNvSpPr>
            <a:spLocks noGrp="1"/>
          </p:cNvSpPr>
          <p:nvPr>
            <p:ph idx="1"/>
          </p:nvPr>
        </p:nvSpPr>
        <p:spPr/>
        <p:txBody>
          <a:bodyPr/>
          <a:lstStyle/>
          <a:p>
            <a:r>
              <a:t>Used for custom-built software systems with predefined scope.</a:t>
            </a:r>
          </a:p>
          <a:p>
            <a:r>
              <a:t>Supplier bears the bulk of the risk for cost overruns.</a:t>
            </a:r>
          </a:p>
          <a:p>
            <a:r>
              <a:t>Requires highly detailed upfront specifications and blueprints.</a:t>
            </a:r>
          </a:p>
          <a:p>
            <a:r>
              <a:t>Strict change-control procedures are required for any 'scope creep'.</a:t>
            </a:r>
          </a:p>
          <a:p>
            <a:r>
              <a:t>Includes structural clauses: milestones, payments, IP, and termination rules.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Obligations &amp; Ownership</a:t>
            </a:r>
          </a:p>
        </p:txBody>
      </p:sp>
      <p:sp>
        <p:nvSpPr>
          <p:cNvPr id="3" name="Content Placeholder 2"/>
          <p:cNvSpPr>
            <a:spLocks noGrp="1"/>
          </p:cNvSpPr>
          <p:nvPr>
            <p:ph idx="1"/>
          </p:nvPr>
        </p:nvSpPr>
        <p:spPr/>
        <p:txBody>
          <a:bodyPr/>
          <a:lstStyle/>
          <a:p>
            <a:r>
              <a:t>Production vs. Delivery: Distinguishing built code vs. what the client receives.</a:t>
            </a:r>
          </a:p>
          <a:p>
            <a:r>
              <a:t>Ownership of Rights: Defines exactly who owns Intellectual Property (IPR), patents.</a:t>
            </a:r>
          </a:p>
          <a:p>
            <a:r>
              <a:t>Confidentiality: NDAs enforce the shielding of trade secrets.</a:t>
            </a:r>
          </a:p>
          <a:p>
            <a:r>
              <a:t>Client Obligations: The client must provide data and timely approvals.</a:t>
            </a:r>
          </a:p>
          <a:p>
            <a:r>
              <a:t>Penalties: Liquidated damages clearly defined for project delays.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Execution &amp; Post-Delivery Wrap-up</a:t>
            </a:r>
          </a:p>
        </p:txBody>
      </p:sp>
      <p:sp>
        <p:nvSpPr>
          <p:cNvPr id="3" name="Content Placeholder 2"/>
          <p:cNvSpPr>
            <a:spLocks noGrp="1"/>
          </p:cNvSpPr>
          <p:nvPr>
            <p:ph idx="1"/>
          </p:nvPr>
        </p:nvSpPr>
        <p:spPr/>
        <p:txBody>
          <a:bodyPr/>
          <a:lstStyle/>
          <a:p>
            <a:r>
              <a:t>Standards: Strict adherence to mandated coding standards (e.g., ISO, IEEE).</a:t>
            </a:r>
          </a:p>
          <a:p>
            <a:r>
              <a:t>Progress Management: Mandatory, structured progress update meetings.</a:t>
            </a:r>
          </a:p>
          <a:p>
            <a:r>
              <a:t>Acceptance Procedure: Formal User Acceptance Testing (UAT) needed for sign-off.</a:t>
            </a:r>
          </a:p>
          <a:p>
            <a:r>
              <a:t>Warranty &amp; Maintenance: Distinct defect-fixing periods post-delivery.</a:t>
            </a:r>
          </a:p>
          <a:p>
            <a:r>
              <a:t>Inflation &amp; Indemnity: Adjustments for inflation; protections against 3rd-party claims.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Consultancy and Contract Hire</a:t>
            </a:r>
          </a:p>
        </p:txBody>
      </p:sp>
      <p:sp>
        <p:nvSpPr>
          <p:cNvPr id="3" name="Content Placeholder 2"/>
          <p:cNvSpPr>
            <a:spLocks noGrp="1"/>
          </p:cNvSpPr>
          <p:nvPr>
            <p:ph idx="1"/>
          </p:nvPr>
        </p:nvSpPr>
        <p:spPr/>
        <p:txBody>
          <a:bodyPr/>
          <a:lstStyle/>
          <a:p>
            <a:r>
              <a:t>Hiring primarily for specialized skills rather than an end-product.</a:t>
            </a:r>
          </a:p>
          <a:p>
            <a:r>
              <a:t>Contractors are responsible for their time, not overall project success.</a:t>
            </a:r>
          </a:p>
          <a:p>
            <a:r>
              <a:t>Must clearly navigate employment status to distinguish contractor from employee.</a:t>
            </a:r>
          </a:p>
          <a:p>
            <a:r>
              <a:t>Contracts must explicitly state who retains ownership of created Intellectual Property.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Time and Materials Contracts</a:t>
            </a:r>
          </a:p>
        </p:txBody>
      </p:sp>
      <p:sp>
        <p:nvSpPr>
          <p:cNvPr id="3" name="Content Placeholder 2"/>
          <p:cNvSpPr>
            <a:spLocks noGrp="1"/>
          </p:cNvSpPr>
          <p:nvPr>
            <p:ph idx="1"/>
          </p:nvPr>
        </p:nvSpPr>
        <p:spPr/>
        <p:txBody>
          <a:bodyPr/>
          <a:lstStyle/>
          <a:p>
            <a:r>
              <a:t>Payments are strictly based on hours worked and materials directly consumed.</a:t>
            </a:r>
          </a:p>
          <a:p>
            <a:r>
              <a:t>The customer bears the financial risk for any time or cost overruns.</a:t>
            </a:r>
          </a:p>
          <a:p>
            <a:r>
              <a:t>Highly suitable for projects with unclear or aggressively changing requirements.</a:t>
            </a:r>
          </a:p>
          <a:p>
            <a:r>
              <a:t>Requires deep trust and highly transparent, accurate reporting.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Outsourcing &amp; Licensing</a:t>
            </a:r>
          </a:p>
        </p:txBody>
      </p:sp>
      <p:sp>
        <p:nvSpPr>
          <p:cNvPr id="3" name="Content Placeholder 2"/>
          <p:cNvSpPr>
            <a:spLocks noGrp="1"/>
          </p:cNvSpPr>
          <p:nvPr>
            <p:ph idx="1"/>
          </p:nvPr>
        </p:nvSpPr>
        <p:spPr/>
        <p:txBody>
          <a:bodyPr/>
          <a:lstStyle/>
          <a:p>
            <a:r>
              <a:t>Outsourcing focuses on delegating entire IT functions or business processes.</a:t>
            </a:r>
          </a:p>
          <a:p>
            <a:r>
              <a:t>Heavily reliant on strict Service Level Agreements (SLAs).</a:t>
            </a:r>
          </a:p>
          <a:p>
            <a:r>
              <a:t>Presents major risks regarding vendor lock-in and corporate data privacy.</a:t>
            </a:r>
          </a:p>
          <a:p>
            <a:r>
              <a:t>Licensing (EULAs): Dictates the restrictions for using or revising software.</a:t>
            </a:r>
          </a:p>
          <a:p>
            <a:r>
              <a:t>Differentiates between Open Source (GPL, MIT) and strict Proprietary licensing.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Liability for Defective Software</a:t>
            </a:r>
          </a:p>
        </p:txBody>
      </p:sp>
      <p:sp>
        <p:nvSpPr>
          <p:cNvPr id="3" name="Content Placeholder 2"/>
          <p:cNvSpPr>
            <a:spLocks noGrp="1"/>
          </p:cNvSpPr>
          <p:nvPr>
            <p:ph idx="1"/>
          </p:nvPr>
        </p:nvSpPr>
        <p:spPr/>
        <p:txBody>
          <a:bodyPr/>
          <a:lstStyle/>
          <a:p>
            <a:r>
              <a:t>Massive legal distinctions between physical harm and pure economic loss.</a:t>
            </a:r>
          </a:p>
          <a:p>
            <a:r>
              <a:t>Core legal debate: Is software a 'Good' or a 'Service' under liability law?</a:t>
            </a:r>
          </a:p>
          <a:p>
            <a:r>
              <a:t>Contracts invariably contain 'Limitation of Liability' protective clauses.</a:t>
            </a:r>
          </a:p>
          <a:p>
            <a:r>
              <a:t>Courts strike down those clauses if they are severely unreasonable.</a:t>
            </a:r>
          </a:p>
          <a:p>
            <a:r>
              <a:t>Engineers maintain a professional duty; negligence can trigger heavy damages.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Health &amp; Safety Implications</a:t>
            </a:r>
          </a:p>
        </p:txBody>
      </p:sp>
      <p:sp>
        <p:nvSpPr>
          <p:cNvPr id="3" name="Content Placeholder 2"/>
          <p:cNvSpPr>
            <a:spLocks noGrp="1"/>
          </p:cNvSpPr>
          <p:nvPr>
            <p:ph idx="1"/>
          </p:nvPr>
        </p:nvSpPr>
        <p:spPr/>
        <p:txBody>
          <a:bodyPr/>
          <a:lstStyle/>
          <a:p>
            <a:r>
              <a:t>Strict adherence to the Health &amp; Safety at Work Act.</a:t>
            </a:r>
          </a:p>
          <a:p>
            <a:r>
              <a:t>Systemic flaws in safety-critical software (aviation, medical) trigger strict liability.</a:t>
            </a:r>
          </a:p>
          <a:p>
            <a:r>
              <a:t>Also covers latent physical impacts, such as RSI/ergonomic problems from use.</a:t>
            </a:r>
          </a:p>
          <a:p>
            <a:r>
              <a:t>System engineers hold a massive legal limit of professional responsibility.</a:t>
            </a:r>
          </a:p>
          <a:p>
            <a:r>
              <a:t>Gross negligence resulting in physical harm can trigger criminal charges.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